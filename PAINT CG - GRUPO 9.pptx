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ca One Bold" charset="1" panose="00000800000000000000"/>
      <p:regular r:id="rId18"/>
    </p:embeddedFont>
    <p:embeddedFont>
      <p:font typeface="Roca One Ultra-Bold" charset="1" panose="00000A00000000000000"/>
      <p:regular r:id="rId19"/>
    </p:embeddedFont>
    <p:embeddedFont>
      <p:font typeface="Montserrat Medium" charset="1" panose="000006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4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6278" y="632108"/>
            <a:ext cx="17215443" cy="7993820"/>
            <a:chOff x="0" y="0"/>
            <a:chExt cx="4534109" cy="21053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4109" cy="2105368"/>
            </a:xfrm>
            <a:custGeom>
              <a:avLst/>
              <a:gdLst/>
              <a:ahLst/>
              <a:cxnLst/>
              <a:rect r="r" b="b" t="t" l="l"/>
              <a:pathLst>
                <a:path h="2105368" w="4534109">
                  <a:moveTo>
                    <a:pt x="22935" y="0"/>
                  </a:moveTo>
                  <a:lnTo>
                    <a:pt x="4511173" y="0"/>
                  </a:lnTo>
                  <a:cubicBezTo>
                    <a:pt x="4517256" y="0"/>
                    <a:pt x="4523090" y="2416"/>
                    <a:pt x="4527391" y="6718"/>
                  </a:cubicBezTo>
                  <a:cubicBezTo>
                    <a:pt x="4531692" y="11019"/>
                    <a:pt x="4534109" y="16852"/>
                    <a:pt x="4534109" y="22935"/>
                  </a:cubicBezTo>
                  <a:lnTo>
                    <a:pt x="4534109" y="2082433"/>
                  </a:lnTo>
                  <a:cubicBezTo>
                    <a:pt x="4534109" y="2088516"/>
                    <a:pt x="4531692" y="2094349"/>
                    <a:pt x="4527391" y="2098651"/>
                  </a:cubicBezTo>
                  <a:cubicBezTo>
                    <a:pt x="4523090" y="2102952"/>
                    <a:pt x="4517256" y="2105368"/>
                    <a:pt x="4511173" y="2105368"/>
                  </a:cubicBezTo>
                  <a:lnTo>
                    <a:pt x="22935" y="2105368"/>
                  </a:lnTo>
                  <a:cubicBezTo>
                    <a:pt x="16852" y="2105368"/>
                    <a:pt x="11019" y="2102952"/>
                    <a:pt x="6718" y="2098651"/>
                  </a:cubicBezTo>
                  <a:cubicBezTo>
                    <a:pt x="2416" y="2094349"/>
                    <a:pt x="0" y="2088516"/>
                    <a:pt x="0" y="2082433"/>
                  </a:cubicBezTo>
                  <a:lnTo>
                    <a:pt x="0" y="22935"/>
                  </a:lnTo>
                  <a:cubicBezTo>
                    <a:pt x="0" y="16852"/>
                    <a:pt x="2416" y="11019"/>
                    <a:pt x="6718" y="6718"/>
                  </a:cubicBezTo>
                  <a:cubicBezTo>
                    <a:pt x="11019" y="2416"/>
                    <a:pt x="16852" y="0"/>
                    <a:pt x="22935" y="0"/>
                  </a:cubicBezTo>
                  <a:close/>
                </a:path>
              </a:pathLst>
            </a:custGeom>
            <a:solidFill>
              <a:srgbClr val="FEFE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4109" cy="2143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743" y="0"/>
            <a:ext cx="995070" cy="9902766"/>
          </a:xfrm>
          <a:custGeom>
            <a:avLst/>
            <a:gdLst/>
            <a:ahLst/>
            <a:cxnLst/>
            <a:rect r="r" b="b" t="t" l="l"/>
            <a:pathLst>
              <a:path h="9902766" w="995070">
                <a:moveTo>
                  <a:pt x="0" y="0"/>
                </a:moveTo>
                <a:lnTo>
                  <a:pt x="995071" y="0"/>
                </a:lnTo>
                <a:lnTo>
                  <a:pt x="995071" y="9902766"/>
                </a:lnTo>
                <a:lnTo>
                  <a:pt x="0" y="9902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41" t="-4937" r="-1677944" b="-387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11084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22603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73755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80978" y="5617859"/>
            <a:ext cx="5494657" cy="3640441"/>
          </a:xfrm>
          <a:custGeom>
            <a:avLst/>
            <a:gdLst/>
            <a:ahLst/>
            <a:cxnLst/>
            <a:rect r="r" b="b" t="t" l="l"/>
            <a:pathLst>
              <a:path h="3640441" w="5494657">
                <a:moveTo>
                  <a:pt x="0" y="0"/>
                </a:moveTo>
                <a:lnTo>
                  <a:pt x="5494657" y="0"/>
                </a:lnTo>
                <a:lnTo>
                  <a:pt x="5494657" y="3640441"/>
                </a:lnTo>
                <a:lnTo>
                  <a:pt x="0" y="3640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3677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118991" y="2248747"/>
            <a:ext cx="14050017" cy="3532737"/>
            <a:chOff x="0" y="0"/>
            <a:chExt cx="18733356" cy="471031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2901888"/>
              <a:ext cx="18733356" cy="1808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245"/>
                </a:lnSpc>
              </a:pPr>
              <a:r>
                <a:rPr lang="en-US" b="true" sz="10627" spc="-956">
                  <a:solidFill>
                    <a:srgbClr val="51362F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computação  gráfica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303526" y="542925"/>
              <a:ext cx="12126304" cy="2947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993"/>
                </a:lnSpc>
              </a:pPr>
              <a:r>
                <a:rPr lang="en-US" sz="17234" b="true">
                  <a:solidFill>
                    <a:srgbClr val="51362F"/>
                  </a:solidFill>
                  <a:latin typeface="Roca One Ultra-Bold"/>
                  <a:ea typeface="Roca One Ultra-Bold"/>
                  <a:cs typeface="Roca One Ultra-Bold"/>
                  <a:sym typeface="Roca One Ultra-Bold"/>
                </a:rPr>
                <a:t>PAINT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169009" y="8542759"/>
            <a:ext cx="1582713" cy="815863"/>
          </a:xfrm>
          <a:custGeom>
            <a:avLst/>
            <a:gdLst/>
            <a:ahLst/>
            <a:cxnLst/>
            <a:rect r="r" b="b" t="t" l="l"/>
            <a:pathLst>
              <a:path h="815863" w="1582713">
                <a:moveTo>
                  <a:pt x="0" y="0"/>
                </a:moveTo>
                <a:lnTo>
                  <a:pt x="1582713" y="0"/>
                </a:lnTo>
                <a:lnTo>
                  <a:pt x="1582713" y="815863"/>
                </a:lnTo>
                <a:lnTo>
                  <a:pt x="0" y="8158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9634" r="-6529" b="-38098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871" y="0"/>
            <a:ext cx="17831519" cy="10287000"/>
          </a:xfrm>
          <a:custGeom>
            <a:avLst/>
            <a:gdLst/>
            <a:ahLst/>
            <a:cxnLst/>
            <a:rect r="r" b="b" t="t" l="l"/>
            <a:pathLst>
              <a:path h="10287000" w="17831519">
                <a:moveTo>
                  <a:pt x="0" y="0"/>
                </a:moveTo>
                <a:lnTo>
                  <a:pt x="17831520" y="0"/>
                </a:lnTo>
                <a:lnTo>
                  <a:pt x="17831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17" r="0" b="-372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415186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7711649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916444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2193" y="1397022"/>
            <a:ext cx="9212027" cy="82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04327" indent="-752163" lvl="1">
              <a:lnSpc>
                <a:spcPts val="6061"/>
              </a:lnSpc>
              <a:buAutoNum type="arabicPeriod" startAt="1"/>
            </a:pPr>
            <a:r>
              <a:rPr lang="en-US" b="true" sz="6967" spc="-334">
                <a:solidFill>
                  <a:srgbClr val="51362F"/>
                </a:solidFill>
                <a:latin typeface="Roca One Bold"/>
                <a:ea typeface="Roca One Bold"/>
                <a:cs typeface="Roca One Bold"/>
                <a:sym typeface="Roca One Bold"/>
              </a:rPr>
              <a:t> Visão Geral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4542" y="2759731"/>
            <a:ext cx="14901281" cy="4245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65"/>
              </a:lnSpc>
            </a:pPr>
            <a:r>
              <a:rPr lang="en-US" sz="3475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Programa em C que faz uso do OpenGL/C com GLUT, e permite criar, selecionar, transformar, salvar/carregar e animar objetos 2D.</a:t>
            </a:r>
          </a:p>
          <a:p>
            <a:pPr algn="just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Criação</a:t>
            </a:r>
          </a:p>
          <a:p>
            <a:pPr algn="just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Seleção</a:t>
            </a:r>
          </a:p>
          <a:p>
            <a:pPr algn="just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Transformações</a:t>
            </a:r>
          </a:p>
          <a:p>
            <a:pPr algn="just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Salvar/Carregar</a:t>
            </a:r>
          </a:p>
          <a:p>
            <a:pPr algn="just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Animação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871" y="0"/>
            <a:ext cx="17831519" cy="10287000"/>
          </a:xfrm>
          <a:custGeom>
            <a:avLst/>
            <a:gdLst/>
            <a:ahLst/>
            <a:cxnLst/>
            <a:rect r="r" b="b" t="t" l="l"/>
            <a:pathLst>
              <a:path h="10287000" w="17831519">
                <a:moveTo>
                  <a:pt x="0" y="0"/>
                </a:moveTo>
                <a:lnTo>
                  <a:pt x="17831520" y="0"/>
                </a:lnTo>
                <a:lnTo>
                  <a:pt x="17831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17" r="0" b="-372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415186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7711649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916444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4311" y="1379556"/>
            <a:ext cx="11168129" cy="82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04327" indent="-752163" lvl="1">
              <a:lnSpc>
                <a:spcPts val="6061"/>
              </a:lnSpc>
              <a:buAutoNum type="arabicPeriod" startAt="1"/>
            </a:pPr>
            <a:r>
              <a:rPr lang="en-US" b="true" sz="6967" spc="-334">
                <a:solidFill>
                  <a:srgbClr val="51362F"/>
                </a:solidFill>
                <a:latin typeface="Roca One Bold"/>
                <a:ea typeface="Roca One Bold"/>
                <a:cs typeface="Roca One Bold"/>
                <a:sym typeface="Roca One Bold"/>
              </a:rPr>
              <a:t> Estruturas de Dados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4542" y="2759731"/>
            <a:ext cx="14901281" cy="790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Estrutura de Dados utilizada foi a Lista Encadeada, com a inserção dos dados sempre na cabeça da lista e com crescimento/diminuição dinâmica. 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{ Objeto; No* proximo }</a:t>
            </a:r>
          </a:p>
          <a:p>
            <a:pPr algn="l">
              <a:lnSpc>
                <a:spcPts val="4865"/>
              </a:lnSpc>
            </a:pP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Foi usado o Struct e Union para a criação e manipulação de objetos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TipoObjeto: enum PONTO, LINHA, POLIGONO</a:t>
            </a:r>
          </a:p>
          <a:p>
            <a:pPr algn="l">
              <a:lnSpc>
                <a:spcPts val="4865"/>
              </a:lnSpc>
            </a:pPr>
          </a:p>
          <a:p>
            <a:pPr algn="l">
              <a:lnSpc>
                <a:spcPts val="4865"/>
              </a:lnSpc>
            </a:pPr>
          </a:p>
          <a:p>
            <a:pPr algn="l">
              <a:lnSpc>
                <a:spcPts val="4865"/>
              </a:lnSpc>
            </a:pPr>
          </a:p>
          <a:p>
            <a:pPr algn="just">
              <a:lnSpc>
                <a:spcPts val="4865"/>
              </a:lnSpc>
            </a:pPr>
          </a:p>
          <a:p>
            <a:pPr algn="just">
              <a:lnSpc>
                <a:spcPts val="4865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871" y="0"/>
            <a:ext cx="17831519" cy="10287000"/>
          </a:xfrm>
          <a:custGeom>
            <a:avLst/>
            <a:gdLst/>
            <a:ahLst/>
            <a:cxnLst/>
            <a:rect r="r" b="b" t="t" l="l"/>
            <a:pathLst>
              <a:path h="10287000" w="17831519">
                <a:moveTo>
                  <a:pt x="0" y="0"/>
                </a:moveTo>
                <a:lnTo>
                  <a:pt x="17831520" y="0"/>
                </a:lnTo>
                <a:lnTo>
                  <a:pt x="17831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17" r="0" b="-372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415186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7711649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916444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4311" y="1379556"/>
            <a:ext cx="11168129" cy="82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04327" indent="-752163" lvl="1">
              <a:lnSpc>
                <a:spcPts val="6061"/>
              </a:lnSpc>
              <a:buAutoNum type="arabicPeriod" startAt="1"/>
            </a:pPr>
            <a:r>
              <a:rPr lang="en-US" b="true" sz="6967" spc="-334">
                <a:solidFill>
                  <a:srgbClr val="51362F"/>
                </a:solidFill>
                <a:latin typeface="Roca One Bold"/>
                <a:ea typeface="Roca One Bold"/>
                <a:cs typeface="Roca One Bold"/>
                <a:sym typeface="Roca One Bold"/>
              </a:rPr>
              <a:t> Criação de Objetos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4542" y="2759731"/>
            <a:ext cx="14901281" cy="48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lógica implementada para a criação de objetos veio da Máquina de estados (estadoAtual)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Teclas 1 / 2 / 3  trocam o modo: Ponto / Linha / Polígono 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Ponto: 1 clique = 1 objeto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Linha: 2 cliques (com prévia em cinza entre eles)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Polígono: N</a:t>
            </a: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cliques + tecla P/Enter para fechar (mín. 3 pontos)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Preview em tempo real (desenhaPreview) antes de confirmar</a:t>
            </a:r>
          </a:p>
          <a:p>
            <a:pPr algn="just">
              <a:lnSpc>
                <a:spcPts val="4865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871" y="0"/>
            <a:ext cx="17831519" cy="10287000"/>
          </a:xfrm>
          <a:custGeom>
            <a:avLst/>
            <a:gdLst/>
            <a:ahLst/>
            <a:cxnLst/>
            <a:rect r="r" b="b" t="t" l="l"/>
            <a:pathLst>
              <a:path h="10287000" w="17831519">
                <a:moveTo>
                  <a:pt x="0" y="0"/>
                </a:moveTo>
                <a:lnTo>
                  <a:pt x="17831520" y="0"/>
                </a:lnTo>
                <a:lnTo>
                  <a:pt x="17831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17" r="0" b="-3728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17415186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7711649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916444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22931" y="2776966"/>
            <a:ext cx="11638383" cy="3600146"/>
          </a:xfrm>
          <a:custGeom>
            <a:avLst/>
            <a:gdLst/>
            <a:ahLst/>
            <a:cxnLst/>
            <a:rect r="r" b="b" t="t" l="l"/>
            <a:pathLst>
              <a:path h="3600146" w="11638383">
                <a:moveTo>
                  <a:pt x="0" y="0"/>
                </a:moveTo>
                <a:lnTo>
                  <a:pt x="11638383" y="0"/>
                </a:lnTo>
                <a:lnTo>
                  <a:pt x="11638383" y="3600146"/>
                </a:lnTo>
                <a:lnTo>
                  <a:pt x="0" y="360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6" t="-482" r="0" b="0"/>
            </a:stretch>
          </a:blipFill>
          <a:ln w="9525" cap="sq">
            <a:solidFill>
              <a:srgbClr val="FF6D71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704311" y="1131906"/>
            <a:ext cx="12687601" cy="205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04327" indent="-752163" lvl="1">
              <a:lnSpc>
                <a:spcPts val="8639"/>
              </a:lnSpc>
              <a:buAutoNum type="arabicPeriod" startAt="1"/>
            </a:pPr>
            <a:r>
              <a:rPr lang="en-US" b="true" sz="6967" spc="-334">
                <a:solidFill>
                  <a:srgbClr val="51362F"/>
                </a:solidFill>
                <a:latin typeface="Roca One Bold"/>
                <a:ea typeface="Roca One Bold"/>
                <a:cs typeface="Roca One Bold"/>
                <a:sym typeface="Roca One Bold"/>
              </a:rPr>
              <a:t> Algoritmo de Seleção: Ponto</a:t>
            </a:r>
          </a:p>
          <a:p>
            <a:pPr algn="l">
              <a:lnSpc>
                <a:spcPts val="6758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871" y="0"/>
            <a:ext cx="17831519" cy="10287000"/>
          </a:xfrm>
          <a:custGeom>
            <a:avLst/>
            <a:gdLst/>
            <a:ahLst/>
            <a:cxnLst/>
            <a:rect r="r" b="b" t="t" l="l"/>
            <a:pathLst>
              <a:path h="10287000" w="17831519">
                <a:moveTo>
                  <a:pt x="0" y="0"/>
                </a:moveTo>
                <a:lnTo>
                  <a:pt x="17831520" y="0"/>
                </a:lnTo>
                <a:lnTo>
                  <a:pt x="17831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17" r="0" b="-372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415186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7711649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916444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9347" y="2620828"/>
            <a:ext cx="7817466" cy="5835601"/>
          </a:xfrm>
          <a:custGeom>
            <a:avLst/>
            <a:gdLst/>
            <a:ahLst/>
            <a:cxnLst/>
            <a:rect r="r" b="b" t="t" l="l"/>
            <a:pathLst>
              <a:path h="5835601" w="7817466">
                <a:moveTo>
                  <a:pt x="0" y="0"/>
                </a:moveTo>
                <a:lnTo>
                  <a:pt x="7817466" y="0"/>
                </a:lnTo>
                <a:lnTo>
                  <a:pt x="7817466" y="5835601"/>
                </a:lnTo>
                <a:lnTo>
                  <a:pt x="0" y="5835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688" b="-86765"/>
            </a:stretch>
          </a:blipFill>
          <a:ln w="9525" cap="sq">
            <a:solidFill>
              <a:srgbClr val="FF6D71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704311" y="1131906"/>
            <a:ext cx="13770443" cy="205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04327" indent="-752163" lvl="1">
              <a:lnSpc>
                <a:spcPts val="8639"/>
              </a:lnSpc>
              <a:buAutoNum type="arabicPeriod" startAt="1"/>
            </a:pPr>
            <a:r>
              <a:rPr lang="en-US" b="true" sz="6967" spc="-334">
                <a:solidFill>
                  <a:srgbClr val="51362F"/>
                </a:solidFill>
                <a:latin typeface="Roca One Bold"/>
                <a:ea typeface="Roca One Bold"/>
                <a:cs typeface="Roca One Bold"/>
                <a:sym typeface="Roca One Bold"/>
              </a:rPr>
              <a:t> Algoritmo de Seleção: Linha</a:t>
            </a:r>
          </a:p>
          <a:p>
            <a:pPr algn="l">
              <a:lnSpc>
                <a:spcPts val="6758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144000" y="2620828"/>
            <a:ext cx="7817466" cy="5710688"/>
          </a:xfrm>
          <a:custGeom>
            <a:avLst/>
            <a:gdLst/>
            <a:ahLst/>
            <a:cxnLst/>
            <a:rect r="r" b="b" t="t" l="l"/>
            <a:pathLst>
              <a:path h="5710688" w="7817466">
                <a:moveTo>
                  <a:pt x="0" y="0"/>
                </a:moveTo>
                <a:lnTo>
                  <a:pt x="7817466" y="0"/>
                </a:lnTo>
                <a:lnTo>
                  <a:pt x="7817466" y="5710688"/>
                </a:lnTo>
                <a:lnTo>
                  <a:pt x="0" y="5710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0" t="-112732" r="-22919" b="0"/>
            </a:stretch>
          </a:blipFill>
          <a:ln w="9525" cap="sq">
            <a:solidFill>
              <a:srgbClr val="FF6D71"/>
            </a:solidFill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871" y="0"/>
            <a:ext cx="17831519" cy="10287000"/>
          </a:xfrm>
          <a:custGeom>
            <a:avLst/>
            <a:gdLst/>
            <a:ahLst/>
            <a:cxnLst/>
            <a:rect r="r" b="b" t="t" l="l"/>
            <a:pathLst>
              <a:path h="10287000" w="17831519">
                <a:moveTo>
                  <a:pt x="0" y="0"/>
                </a:moveTo>
                <a:lnTo>
                  <a:pt x="17831520" y="0"/>
                </a:lnTo>
                <a:lnTo>
                  <a:pt x="17831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17" r="0" b="-372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415186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7711649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916444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49622" y="633105"/>
            <a:ext cx="9453169" cy="9317419"/>
          </a:xfrm>
          <a:custGeom>
            <a:avLst/>
            <a:gdLst/>
            <a:ahLst/>
            <a:cxnLst/>
            <a:rect r="r" b="b" t="t" l="l"/>
            <a:pathLst>
              <a:path h="9317419" w="9453169">
                <a:moveTo>
                  <a:pt x="0" y="0"/>
                </a:moveTo>
                <a:lnTo>
                  <a:pt x="9453169" y="0"/>
                </a:lnTo>
                <a:lnTo>
                  <a:pt x="9453169" y="9317419"/>
                </a:lnTo>
                <a:lnTo>
                  <a:pt x="0" y="93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9525" cap="sq">
            <a:solidFill>
              <a:srgbClr val="FF6D71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704311" y="1131906"/>
            <a:ext cx="5736453" cy="424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04327" indent="-752163" lvl="1">
              <a:lnSpc>
                <a:spcPts val="8639"/>
              </a:lnSpc>
              <a:buAutoNum type="arabicPeriod" startAt="1"/>
            </a:pPr>
            <a:r>
              <a:rPr lang="en-US" b="true" sz="6967" spc="-334">
                <a:solidFill>
                  <a:srgbClr val="51362F"/>
                </a:solidFill>
                <a:latin typeface="Roca One Bold"/>
                <a:ea typeface="Roca One Bold"/>
                <a:cs typeface="Roca One Bold"/>
                <a:sym typeface="Roca One Bold"/>
              </a:rPr>
              <a:t> Algoritmo de Seleção: Polígono</a:t>
            </a:r>
          </a:p>
          <a:p>
            <a:pPr algn="l">
              <a:lnSpc>
                <a:spcPts val="6758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871" y="0"/>
            <a:ext cx="17831519" cy="10287000"/>
          </a:xfrm>
          <a:custGeom>
            <a:avLst/>
            <a:gdLst/>
            <a:ahLst/>
            <a:cxnLst/>
            <a:rect r="r" b="b" t="t" l="l"/>
            <a:pathLst>
              <a:path h="10287000" w="17831519">
                <a:moveTo>
                  <a:pt x="0" y="0"/>
                </a:moveTo>
                <a:lnTo>
                  <a:pt x="17831520" y="0"/>
                </a:lnTo>
                <a:lnTo>
                  <a:pt x="17831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17" r="0" b="-372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415186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7711649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916444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4311" y="1379556"/>
            <a:ext cx="11168129" cy="82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04327" indent="-752163" lvl="1">
              <a:lnSpc>
                <a:spcPts val="6061"/>
              </a:lnSpc>
              <a:buAutoNum type="arabicPeriod" startAt="1"/>
            </a:pPr>
            <a:r>
              <a:rPr lang="en-US" b="true" sz="6967" spc="-334">
                <a:solidFill>
                  <a:srgbClr val="51362F"/>
                </a:solidFill>
                <a:latin typeface="Roca One Bold"/>
                <a:ea typeface="Roca One Bold"/>
                <a:cs typeface="Roca One Bold"/>
                <a:sym typeface="Roca One Bold"/>
              </a:rPr>
              <a:t> Transformações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4542" y="2759731"/>
            <a:ext cx="14901281" cy="48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Coordenadas homogêneas, matriz 3×3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Uma matriz para cada transformação: Translação, Rotação, Escala, Reflexão (X e Y), Cisalhamento (H e V)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 = Translação(volta) × Transformação × Translação(ida)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Atalhos: 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 A S D — transladar/mover | Q E — rotacionar | +/− — escalar | H V — refletir | C B N M — cisalhar</a:t>
            </a:r>
          </a:p>
          <a:p>
            <a:pPr algn="just">
              <a:lnSpc>
                <a:spcPts val="4865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871" y="0"/>
            <a:ext cx="17831519" cy="10287000"/>
          </a:xfrm>
          <a:custGeom>
            <a:avLst/>
            <a:gdLst/>
            <a:ahLst/>
            <a:cxnLst/>
            <a:rect r="r" b="b" t="t" l="l"/>
            <a:pathLst>
              <a:path h="10287000" w="17831519">
                <a:moveTo>
                  <a:pt x="0" y="0"/>
                </a:moveTo>
                <a:lnTo>
                  <a:pt x="17831520" y="0"/>
                </a:lnTo>
                <a:lnTo>
                  <a:pt x="17831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17" r="0" b="-372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415186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7711649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916444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4311" y="1379556"/>
            <a:ext cx="12946623" cy="82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04327" indent="-752163" lvl="1">
              <a:lnSpc>
                <a:spcPts val="6061"/>
              </a:lnSpc>
              <a:buAutoNum type="arabicPeriod" startAt="1"/>
            </a:pPr>
            <a:r>
              <a:rPr lang="en-US" b="true" sz="6967" spc="-334">
                <a:solidFill>
                  <a:srgbClr val="51362F"/>
                </a:solidFill>
                <a:latin typeface="Roca One Bold"/>
                <a:ea typeface="Roca One Bold"/>
                <a:cs typeface="Roca One Bold"/>
                <a:sym typeface="Roca One Bold"/>
              </a:rPr>
              <a:t> Excluir, Salvar e Carregar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1912" y="2817102"/>
            <a:ext cx="14901281" cy="48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Excluir: Delete com o objeto selecionado ou no próprio ícone de excluir (borracha)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Salvar: botão Salvar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Salva: tipo → cor → dados específicos do objeto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Carregar: botão Carregar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Carregar: lê na mesma ordem e reconstrói a lista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Arquivo salvo na mesma pasta do executável</a:t>
            </a:r>
          </a:p>
          <a:p>
            <a:pPr algn="just">
              <a:lnSpc>
                <a:spcPts val="4865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871" y="0"/>
            <a:ext cx="17831519" cy="10287000"/>
          </a:xfrm>
          <a:custGeom>
            <a:avLst/>
            <a:gdLst/>
            <a:ahLst/>
            <a:cxnLst/>
            <a:rect r="r" b="b" t="t" l="l"/>
            <a:pathLst>
              <a:path h="10287000" w="17831519">
                <a:moveTo>
                  <a:pt x="0" y="0"/>
                </a:moveTo>
                <a:lnTo>
                  <a:pt x="17831520" y="0"/>
                </a:lnTo>
                <a:lnTo>
                  <a:pt x="17831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17" r="0" b="-372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415186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7711649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916444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3359" y="2434630"/>
            <a:ext cx="14901281" cy="485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5"/>
              </a:lnSpc>
            </a:pP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Ao</a:t>
            </a: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alcançar o objeto selecionado: come (remove da lista), fica "gordo" e some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 sprites de caminhada, trocados via glutTimerFunc (efeito flipbook)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</a:t>
            </a: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exturas c</a:t>
            </a: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arregadas com stb_image.h</a:t>
            </a:r>
          </a:p>
          <a:p>
            <a:pPr algn="l" marL="750375" indent="-375188" lvl="1">
              <a:lnSpc>
                <a:spcPts val="4865"/>
              </a:lnSpc>
              <a:buFont typeface="Arial"/>
              <a:buChar char="•"/>
            </a:pPr>
            <a:r>
              <a:rPr lang="en-US" b="true" sz="34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Ativado com tecla J, no modo seleção</a:t>
            </a:r>
          </a:p>
          <a:p>
            <a:pPr algn="just">
              <a:lnSpc>
                <a:spcPts val="4865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19871" y="7761431"/>
            <a:ext cx="3812668" cy="2525569"/>
          </a:xfrm>
          <a:custGeom>
            <a:avLst/>
            <a:gdLst/>
            <a:ahLst/>
            <a:cxnLst/>
            <a:rect r="r" b="b" t="t" l="l"/>
            <a:pathLst>
              <a:path h="2525569" w="3812668">
                <a:moveTo>
                  <a:pt x="0" y="0"/>
                </a:moveTo>
                <a:lnTo>
                  <a:pt x="3812669" y="0"/>
                </a:lnTo>
                <a:lnTo>
                  <a:pt x="3812669" y="2525569"/>
                </a:lnTo>
                <a:lnTo>
                  <a:pt x="0" y="25255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398" t="-29720" r="-12635" b="-887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90254" y="7879607"/>
            <a:ext cx="3696348" cy="2407393"/>
          </a:xfrm>
          <a:custGeom>
            <a:avLst/>
            <a:gdLst/>
            <a:ahLst/>
            <a:cxnLst/>
            <a:rect r="r" b="b" t="t" l="l"/>
            <a:pathLst>
              <a:path h="2407393" w="3696348">
                <a:moveTo>
                  <a:pt x="0" y="0"/>
                </a:moveTo>
                <a:lnTo>
                  <a:pt x="3696347" y="0"/>
                </a:lnTo>
                <a:lnTo>
                  <a:pt x="3696347" y="2407393"/>
                </a:lnTo>
                <a:lnTo>
                  <a:pt x="0" y="24073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6612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88375" y="8012899"/>
            <a:ext cx="3161900" cy="2274101"/>
          </a:xfrm>
          <a:custGeom>
            <a:avLst/>
            <a:gdLst/>
            <a:ahLst/>
            <a:cxnLst/>
            <a:rect r="r" b="b" t="t" l="l"/>
            <a:pathLst>
              <a:path h="2274101" w="3161900">
                <a:moveTo>
                  <a:pt x="0" y="0"/>
                </a:moveTo>
                <a:lnTo>
                  <a:pt x="3161900" y="0"/>
                </a:lnTo>
                <a:lnTo>
                  <a:pt x="3161900" y="2274101"/>
                </a:lnTo>
                <a:lnTo>
                  <a:pt x="0" y="22741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580" t="-38865" r="-13651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03201" y="8138907"/>
            <a:ext cx="2892105" cy="2238786"/>
          </a:xfrm>
          <a:custGeom>
            <a:avLst/>
            <a:gdLst/>
            <a:ahLst/>
            <a:cxnLst/>
            <a:rect r="r" b="b" t="t" l="l"/>
            <a:pathLst>
              <a:path h="2238786" w="2892105">
                <a:moveTo>
                  <a:pt x="0" y="0"/>
                </a:moveTo>
                <a:lnTo>
                  <a:pt x="2892105" y="0"/>
                </a:lnTo>
                <a:lnTo>
                  <a:pt x="2892105" y="2238786"/>
                </a:lnTo>
                <a:lnTo>
                  <a:pt x="0" y="22387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849" t="-44596" r="-4310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47706" y="8012899"/>
            <a:ext cx="2755801" cy="2274101"/>
          </a:xfrm>
          <a:custGeom>
            <a:avLst/>
            <a:gdLst/>
            <a:ahLst/>
            <a:cxnLst/>
            <a:rect r="r" b="b" t="t" l="l"/>
            <a:pathLst>
              <a:path h="2274101" w="2755801">
                <a:moveTo>
                  <a:pt x="0" y="0"/>
                </a:moveTo>
                <a:lnTo>
                  <a:pt x="2755801" y="0"/>
                </a:lnTo>
                <a:lnTo>
                  <a:pt x="2755801" y="2274101"/>
                </a:lnTo>
                <a:lnTo>
                  <a:pt x="0" y="22741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5924" t="-37698" r="-30934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4311" y="1379556"/>
            <a:ext cx="11168129" cy="82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04327" indent="-752163" lvl="1">
              <a:lnSpc>
                <a:spcPts val="6061"/>
              </a:lnSpc>
              <a:buAutoNum type="arabicPeriod" startAt="1"/>
            </a:pPr>
            <a:r>
              <a:rPr lang="en-US" b="true" sz="6967" spc="-334">
                <a:solidFill>
                  <a:srgbClr val="51362F"/>
                </a:solidFill>
                <a:latin typeface="Roca One Bold"/>
                <a:ea typeface="Roca One Bold"/>
                <a:cs typeface="Roca One Bold"/>
                <a:sym typeface="Roca One Bold"/>
              </a:rPr>
              <a:t> Animação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6278" y="632108"/>
            <a:ext cx="17215443" cy="7993820"/>
            <a:chOff x="0" y="0"/>
            <a:chExt cx="4534109" cy="21053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4109" cy="2105368"/>
            </a:xfrm>
            <a:custGeom>
              <a:avLst/>
              <a:gdLst/>
              <a:ahLst/>
              <a:cxnLst/>
              <a:rect r="r" b="b" t="t" l="l"/>
              <a:pathLst>
                <a:path h="2105368" w="4534109">
                  <a:moveTo>
                    <a:pt x="22935" y="0"/>
                  </a:moveTo>
                  <a:lnTo>
                    <a:pt x="4511173" y="0"/>
                  </a:lnTo>
                  <a:cubicBezTo>
                    <a:pt x="4517256" y="0"/>
                    <a:pt x="4523090" y="2416"/>
                    <a:pt x="4527391" y="6718"/>
                  </a:cubicBezTo>
                  <a:cubicBezTo>
                    <a:pt x="4531692" y="11019"/>
                    <a:pt x="4534109" y="16852"/>
                    <a:pt x="4534109" y="22935"/>
                  </a:cubicBezTo>
                  <a:lnTo>
                    <a:pt x="4534109" y="2082433"/>
                  </a:lnTo>
                  <a:cubicBezTo>
                    <a:pt x="4534109" y="2088516"/>
                    <a:pt x="4531692" y="2094349"/>
                    <a:pt x="4527391" y="2098651"/>
                  </a:cubicBezTo>
                  <a:cubicBezTo>
                    <a:pt x="4523090" y="2102952"/>
                    <a:pt x="4517256" y="2105368"/>
                    <a:pt x="4511173" y="2105368"/>
                  </a:cubicBezTo>
                  <a:lnTo>
                    <a:pt x="22935" y="2105368"/>
                  </a:lnTo>
                  <a:cubicBezTo>
                    <a:pt x="16852" y="2105368"/>
                    <a:pt x="11019" y="2102952"/>
                    <a:pt x="6718" y="2098651"/>
                  </a:cubicBezTo>
                  <a:cubicBezTo>
                    <a:pt x="2416" y="2094349"/>
                    <a:pt x="0" y="2088516"/>
                    <a:pt x="0" y="2082433"/>
                  </a:cubicBezTo>
                  <a:lnTo>
                    <a:pt x="0" y="22935"/>
                  </a:lnTo>
                  <a:cubicBezTo>
                    <a:pt x="0" y="16852"/>
                    <a:pt x="2416" y="11019"/>
                    <a:pt x="6718" y="6718"/>
                  </a:cubicBezTo>
                  <a:cubicBezTo>
                    <a:pt x="11019" y="2416"/>
                    <a:pt x="16852" y="0"/>
                    <a:pt x="22935" y="0"/>
                  </a:cubicBezTo>
                  <a:close/>
                </a:path>
              </a:pathLst>
            </a:custGeom>
            <a:solidFill>
              <a:srgbClr val="FEFEF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4109" cy="2143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743" y="0"/>
            <a:ext cx="995070" cy="9902766"/>
          </a:xfrm>
          <a:custGeom>
            <a:avLst/>
            <a:gdLst/>
            <a:ahLst/>
            <a:cxnLst/>
            <a:rect r="r" b="b" t="t" l="l"/>
            <a:pathLst>
              <a:path h="9902766" w="995070">
                <a:moveTo>
                  <a:pt x="0" y="0"/>
                </a:moveTo>
                <a:lnTo>
                  <a:pt x="995071" y="0"/>
                </a:lnTo>
                <a:lnTo>
                  <a:pt x="995071" y="9902766"/>
                </a:lnTo>
                <a:lnTo>
                  <a:pt x="0" y="9902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41" t="-4937" r="-1677944" b="-387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11084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22603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73755" y="9258300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4037803" y="6251713"/>
            <a:ext cx="3919933" cy="3498064"/>
          </a:xfrm>
          <a:custGeom>
            <a:avLst/>
            <a:gdLst/>
            <a:ahLst/>
            <a:cxnLst/>
            <a:rect r="r" b="b" t="t" l="l"/>
            <a:pathLst>
              <a:path h="3498064" w="3919933">
                <a:moveTo>
                  <a:pt x="3919933" y="0"/>
                </a:moveTo>
                <a:lnTo>
                  <a:pt x="0" y="0"/>
                </a:lnTo>
                <a:lnTo>
                  <a:pt x="0" y="3498064"/>
                </a:lnTo>
                <a:lnTo>
                  <a:pt x="3919933" y="3498064"/>
                </a:lnTo>
                <a:lnTo>
                  <a:pt x="3919933" y="0"/>
                </a:lnTo>
                <a:close/>
              </a:path>
            </a:pathLst>
          </a:custGeom>
          <a:blipFill>
            <a:blip r:embed="rId5"/>
            <a:stretch>
              <a:fillRect l="-28221" t="-31783" r="-82279" b="-4498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18991" y="4745486"/>
            <a:ext cx="14050017" cy="127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5"/>
              </a:lnSpc>
            </a:pPr>
            <a:r>
              <a:rPr lang="en-US" b="true" sz="10627" spc="-956">
                <a:solidFill>
                  <a:srgbClr val="51362F"/>
                </a:solidFill>
                <a:latin typeface="Roca One Bold"/>
                <a:ea typeface="Roca One Bold"/>
                <a:cs typeface="Roca One Bold"/>
                <a:sym typeface="Roca One Bold"/>
              </a:rPr>
              <a:t>pela  atenção!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97827" y="2734302"/>
            <a:ext cx="10223020" cy="2074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93"/>
              </a:lnSpc>
            </a:pPr>
            <a:r>
              <a:rPr lang="en-US" sz="17234" b="true">
                <a:solidFill>
                  <a:srgbClr val="51362F"/>
                </a:solidFill>
                <a:latin typeface="Roca One Ultra-Bold"/>
                <a:ea typeface="Roca One Ultra-Bold"/>
                <a:cs typeface="Roca One Ultra-Bold"/>
                <a:sym typeface="Roca One Ultra-Bold"/>
              </a:rPr>
              <a:t>Obrigada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9871" y="0"/>
            <a:ext cx="17831519" cy="10287000"/>
          </a:xfrm>
          <a:custGeom>
            <a:avLst/>
            <a:gdLst/>
            <a:ahLst/>
            <a:cxnLst/>
            <a:rect r="r" b="b" t="t" l="l"/>
            <a:pathLst>
              <a:path h="10287000" w="17831519">
                <a:moveTo>
                  <a:pt x="0" y="0"/>
                </a:moveTo>
                <a:lnTo>
                  <a:pt x="17831520" y="0"/>
                </a:lnTo>
                <a:lnTo>
                  <a:pt x="17831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17" r="0" b="-372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415186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7711649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916444" y="0"/>
            <a:ext cx="17639402" cy="10287000"/>
          </a:xfrm>
          <a:custGeom>
            <a:avLst/>
            <a:gdLst/>
            <a:ahLst/>
            <a:cxnLst/>
            <a:rect r="r" b="b" t="t" l="l"/>
            <a:pathLst>
              <a:path h="10287000" w="17639402">
                <a:moveTo>
                  <a:pt x="17639402" y="0"/>
                </a:moveTo>
                <a:lnTo>
                  <a:pt x="0" y="0"/>
                </a:lnTo>
                <a:lnTo>
                  <a:pt x="0" y="10287000"/>
                </a:lnTo>
                <a:lnTo>
                  <a:pt x="17639402" y="10287000"/>
                </a:lnTo>
                <a:lnTo>
                  <a:pt x="17639402" y="0"/>
                </a:lnTo>
                <a:close/>
              </a:path>
            </a:pathLst>
          </a:custGeom>
          <a:blipFill>
            <a:blip r:embed="rId2"/>
            <a:stretch>
              <a:fillRect l="0" t="-1017" r="-1089" b="-3728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DAHNNQX25pM</dc:identifier>
  <dcterms:modified xsi:type="dcterms:W3CDTF">2011-08-01T06:04:30Z</dcterms:modified>
  <cp:revision>1</cp:revision>
  <dc:title>PAINT CG - GRUPO 9</dc:title>
</cp:coreProperties>
</file>